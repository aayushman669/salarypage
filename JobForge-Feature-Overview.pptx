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5b80c86b04fc5" /><Relationship Type="http://schemas.openxmlformats.org/officeDocument/2006/relationships/extended-properties" Target="/docProps/app.xml" Id="R8322fbb7c23241c3" /><Relationship Type="http://schemas.openxmlformats.org/officeDocument/2006/relationships/officeDocument" Target="/ppt/presentation.xml" Id="Rfc1c1c839cbe40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e8254b47f947eb"/>
  </p:sldMasterIdLst>
  <p:notesMasterIdLst>
    <p:notesMasterId xmlns:r="http://schemas.openxmlformats.org/officeDocument/2006/relationships" r:id="R8d191d4683e549a5"/>
  </p:notesMasterIdLst>
  <p:sldIdLst>
    <p:sldId xmlns:r="http://schemas.openxmlformats.org/officeDocument/2006/relationships" id="256" r:id="R0a34aae0bbc24ece"/>
    <p:sldId xmlns:r="http://schemas.openxmlformats.org/officeDocument/2006/relationships" id="257" r:id="Reb49395efd9d4322"/>
    <p:sldId xmlns:r="http://schemas.openxmlformats.org/officeDocument/2006/relationships" id="258" r:id="Rd81fb1ba32124f42"/>
    <p:sldId xmlns:r="http://schemas.openxmlformats.org/officeDocument/2006/relationships" id="259" r:id="Rfbb7bf2e95324e97"/>
    <p:sldId xmlns:r="http://schemas.openxmlformats.org/officeDocument/2006/relationships" id="260" r:id="R2fe824bda5e04040"/>
    <p:sldId xmlns:r="http://schemas.openxmlformats.org/officeDocument/2006/relationships" id="261" r:id="Re0820927a7734de2"/>
    <p:sldId xmlns:r="http://schemas.openxmlformats.org/officeDocument/2006/relationships" id="262" r:id="Rcb692421e97c48e6"/>
    <p:sldId xmlns:r="http://schemas.openxmlformats.org/officeDocument/2006/relationships" id="263" r:id="Rc987f7d1ed97435c"/>
    <p:sldId xmlns:r="http://schemas.openxmlformats.org/officeDocument/2006/relationships" id="264" r:id="R22ebd297a7f64d27"/>
    <p:sldId xmlns:r="http://schemas.openxmlformats.org/officeDocument/2006/relationships" id="265" r:id="Rcd905752b0704fea"/>
    <p:sldId xmlns:r="http://schemas.openxmlformats.org/officeDocument/2006/relationships" id="266" r:id="Rf1b478356dd44baf"/>
    <p:sldId xmlns:r="http://schemas.openxmlformats.org/officeDocument/2006/relationships" id="267" r:id="R976ef647b3504349"/>
    <p:sldId xmlns:r="http://schemas.openxmlformats.org/officeDocument/2006/relationships" id="268" r:id="Raf4d6ddb2ee2472d"/>
    <p:sldId xmlns:r="http://schemas.openxmlformats.org/officeDocument/2006/relationships" id="269" r:id="Rd3bb6c2ebd9f4a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8b11ad52444ae" /><Relationship Type="http://schemas.openxmlformats.org/officeDocument/2006/relationships/slideMaster" Target="/ppt/slideMasters/slideMaster1.xml" Id="R47e8254b47f947eb" /><Relationship Type="http://schemas.openxmlformats.org/officeDocument/2006/relationships/notesMaster" Target="/ppt/notesMasters/notesMaster1.xml" Id="R8d191d4683e549a5" /><Relationship Type="http://schemas.openxmlformats.org/officeDocument/2006/relationships/presProps" Target="/ppt/presProps.xml" Id="Rad13056e093f4b91" /><Relationship Type="http://schemas.openxmlformats.org/officeDocument/2006/relationships/tableStyles" Target="/ppt/tableStyles.xml" Id="R23ea2e3d0a9f455f" /><Relationship Type="http://schemas.openxmlformats.org/officeDocument/2006/relationships/slide" Target="/ppt/slides/slide1.xml" Id="R0a34aae0bbc24ece" /><Relationship Type="http://schemas.openxmlformats.org/officeDocument/2006/relationships/slide" Target="/ppt/slides/slide2.xml" Id="Reb49395efd9d4322" /><Relationship Type="http://schemas.openxmlformats.org/officeDocument/2006/relationships/slide" Target="/ppt/slides/slide3.xml" Id="Rd81fb1ba32124f42" /><Relationship Type="http://schemas.openxmlformats.org/officeDocument/2006/relationships/slide" Target="/ppt/slides/slide4.xml" Id="Rfbb7bf2e95324e97" /><Relationship Type="http://schemas.openxmlformats.org/officeDocument/2006/relationships/slide" Target="/ppt/slides/slide5.xml" Id="R2fe824bda5e04040" /><Relationship Type="http://schemas.openxmlformats.org/officeDocument/2006/relationships/slide" Target="/ppt/slides/slide6.xml" Id="Re0820927a7734de2" /><Relationship Type="http://schemas.openxmlformats.org/officeDocument/2006/relationships/slide" Target="/ppt/slides/slide7.xml" Id="Rcb692421e97c48e6" /><Relationship Type="http://schemas.openxmlformats.org/officeDocument/2006/relationships/slide" Target="/ppt/slides/slide8.xml" Id="Rc987f7d1ed97435c" /><Relationship Type="http://schemas.openxmlformats.org/officeDocument/2006/relationships/slide" Target="/ppt/slides/slide9.xml" Id="R22ebd297a7f64d27" /><Relationship Type="http://schemas.openxmlformats.org/officeDocument/2006/relationships/slide" Target="/ppt/slides/slide10.xml" Id="Rcd905752b0704fea" /><Relationship Type="http://schemas.openxmlformats.org/officeDocument/2006/relationships/slide" Target="/ppt/slides/slide11.xml" Id="Rf1b478356dd44baf" /><Relationship Type="http://schemas.openxmlformats.org/officeDocument/2006/relationships/slide" Target="/ppt/slides/slide12.xml" Id="R976ef647b3504349" /><Relationship Type="http://schemas.openxmlformats.org/officeDocument/2006/relationships/slide" Target="/ppt/slides/slide13.xml" Id="Raf4d6ddb2ee2472d" /><Relationship Type="http://schemas.openxmlformats.org/officeDocument/2006/relationships/slide" Target="/ppt/slides/slide14.xml" Id="Rd3bb6c2ebd9f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274cc2957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f089ddbc7477b" /><Relationship Type="http://schemas.openxmlformats.org/officeDocument/2006/relationships/notesMaster" Target="/ppt/notesMasters/notesMaster1.xml" Id="R5d962203e64f4e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c45f931ec477d" /><Relationship Type="http://schemas.openxmlformats.org/officeDocument/2006/relationships/notesMaster" Target="/ppt/notesMasters/notesMaster1.xml" Id="Re8ef41b8c62b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7727156c84b4e" /><Relationship Type="http://schemas.openxmlformats.org/officeDocument/2006/relationships/notesMaster" Target="/ppt/notesMasters/notesMaster1.xml" Id="Ra21ce926a851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f301e9aa704a49" /><Relationship Type="http://schemas.openxmlformats.org/officeDocument/2006/relationships/notesMaster" Target="/ppt/notesMasters/notesMaster1.xml" Id="Rc48635980b36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53743c52154d73" /><Relationship Type="http://schemas.openxmlformats.org/officeDocument/2006/relationships/notesMaster" Target="/ppt/notesMasters/notesMaster1.xml" Id="R4e4ecbbf733240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35c0a2f0b742c8" /><Relationship Type="http://schemas.openxmlformats.org/officeDocument/2006/relationships/notesMaster" Target="/ppt/notesMasters/notesMaster1.xml" Id="Rf48a1d995a87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fd80a585a40f0" /><Relationship Type="http://schemas.openxmlformats.org/officeDocument/2006/relationships/notesMaster" Target="/ppt/notesMasters/notesMaster1.xml" Id="Rc180c7da579b47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afac674be4f15" /><Relationship Type="http://schemas.openxmlformats.org/officeDocument/2006/relationships/notesMaster" Target="/ppt/notesMasters/notesMaster1.xml" Id="R3b00249705e04e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53d58239044db3" /><Relationship Type="http://schemas.openxmlformats.org/officeDocument/2006/relationships/notesMaster" Target="/ppt/notesMasters/notesMaster1.xml" Id="R267b4272c33a4c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99685684d345f9" /><Relationship Type="http://schemas.openxmlformats.org/officeDocument/2006/relationships/notesMaster" Target="/ppt/notesMasters/notesMaster1.xml" Id="R6cc12ff4743b46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556e7f9f544587" /><Relationship Type="http://schemas.openxmlformats.org/officeDocument/2006/relationships/notesMaster" Target="/ppt/notesMasters/notesMaster1.xml" Id="R8c7a1b09806c4b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ba51ca49cb4070" /><Relationship Type="http://schemas.openxmlformats.org/officeDocument/2006/relationships/notesMaster" Target="/ppt/notesMasters/notesMaster1.xml" Id="R262f2991a5dc40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5b731c19034736" /><Relationship Type="http://schemas.openxmlformats.org/officeDocument/2006/relationships/notesMaster" Target="/ppt/notesMasters/notesMaster1.xml" Id="R06c5df1ec7a34c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d6935558ea4bac" /><Relationship Type="http://schemas.openxmlformats.org/officeDocument/2006/relationships/notesMaster" Target="/ppt/notesMasters/notesMaster1.xml" Id="R40d652a09789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b3c237d5f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531d6784c40df" /><Relationship Type="http://schemas.openxmlformats.org/officeDocument/2006/relationships/slideLayout" Target="/ppt/slideLayouts/slideLayout1.xml" Id="R82d2f1dd8f8b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2f1dd8f8b40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2c3e4f2748c9" /><Relationship Type="http://schemas.openxmlformats.org/officeDocument/2006/relationships/image" Target="/ppt/media/image.png" Id="R96776ee8e86444c6" /><Relationship Type="http://schemas.openxmlformats.org/officeDocument/2006/relationships/notesSlide" Target="/ppt/notesSlides/notesSlide1.xml" Id="R425c8e8af9144b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ec04b32c74b80" /><Relationship Type="http://schemas.openxmlformats.org/officeDocument/2006/relationships/notesSlide" Target="/ppt/notesSlides/notesSlide2.xml" Id="R23dbf1cd176143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638a9a0094677" /><Relationship Type="http://schemas.openxmlformats.org/officeDocument/2006/relationships/notesSlide" Target="/ppt/notesSlides/notesSlide3.xml" Id="R6c0ad218dd53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5ef396dc746e9" /><Relationship Type="http://schemas.openxmlformats.org/officeDocument/2006/relationships/notesSlide" Target="/ppt/notesSlides/notesSlide4.xml" Id="Re23dfe220927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d38459b574aaa" /><Relationship Type="http://schemas.openxmlformats.org/officeDocument/2006/relationships/notesSlide" Target="/ppt/notesSlides/notesSlide5.xml" Id="Rea7bc0b18916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c7cf0412d4e56" /><Relationship Type="http://schemas.openxmlformats.org/officeDocument/2006/relationships/notesSlide" Target="/ppt/notesSlides/notesSlide6.xml" Id="R3ccd628f96b645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c7dab893e4602" /><Relationship Type="http://schemas.openxmlformats.org/officeDocument/2006/relationships/notesSlide" Target="/ppt/notesSlides/notesSlide7.xml" Id="R3e60513d5ca943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d697e26e74681" /><Relationship Type="http://schemas.openxmlformats.org/officeDocument/2006/relationships/notesSlide" Target="/ppt/notesSlides/notesSlide8.xml" Id="Rf9e276e164504f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3923fe614deb" /><Relationship Type="http://schemas.openxmlformats.org/officeDocument/2006/relationships/notesSlide" Target="/ppt/notesSlides/notesSlide9.xml" Id="R1b7742966ff349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b7382375d42be" /><Relationship Type="http://schemas.openxmlformats.org/officeDocument/2006/relationships/notesSlide" Target="/ppt/notesSlides/notesSlide10.xml" Id="R6a72911ab09c41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d9774887440c3" /><Relationship Type="http://schemas.openxmlformats.org/officeDocument/2006/relationships/notesSlide" Target="/ppt/notesSlides/notesSlide11.xml" Id="R0fb17d94534149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da54a13cb4e3e" /><Relationship Type="http://schemas.openxmlformats.org/officeDocument/2006/relationships/notesSlide" Target="/ppt/notesSlides/notesSlide12.xml" Id="R7afe866f4e8749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60e804244c4c" /><Relationship Type="http://schemas.openxmlformats.org/officeDocument/2006/relationships/notesSlide" Target="/ppt/notesSlides/notesSlide13.xml" Id="R69beb0e7fd1c4b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dc1cd5ad460a" /><Relationship Type="http://schemas.openxmlformats.org/officeDocument/2006/relationships/notesSlide" Target="/ppt/notesSlides/notesSlide14.xml" Id="R6a6fd1ee86a54d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77982-B2A1-4741-9232-C23EADB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A3D0C-4AB2-47CA-A84E-58354A9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5C400"/>
                </a:solidFill>
              </a:defRPr>
            </a:pPr>
            <a:r>
              <a:rPr sz="1200" b="1" i="0">
                <a:solidFill>
                  <a:srgbClr val="F5C400"/>
                </a:solidFill>
              </a:rPr>
              <a:t>JOBFORGE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90AEE-6FFC-4912-9656-94416A35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7F7F5"/>
                </a:solidFill>
              </a:defRPr>
            </a:pPr>
            <a:r>
              <a:rPr sz="4050" b="1" i="0">
                <a:solidFill>
                  <a:srgbClr val="F7F7F5"/>
                </a:solidFill>
              </a:rPr>
              <a:t>The complete product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72BC1-4668-4011-9E81-468C9DD1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628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3A3AD"/>
                </a:solidFill>
              </a:defRPr>
            </a:pPr>
            <a:r>
              <a:rPr sz="1800" b="0" i="0">
                <a:solidFill>
                  <a:srgbClr val="A3A3AD"/>
                </a:solidFill>
              </a:rPr>
              <a:t>A job marketplace and hiring workspace for candidates, recruiters and platform administrators.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76ee8e86444c6"/>
          <a:stretch xmlns:a="http://schemas.openxmlformats.org/drawingml/2006/main"/>
        </p:blipFill>
        <p:spPr>
          <a:xfrm xmlns:a="http://schemas.openxmlformats.org/drawingml/2006/main">
            <a:off x="8096250" y="1724479"/>
            <a:ext cx="3048000" cy="11611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ED919-2FB6-403B-A732-AC489F7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84434-C685-4B8C-ACB0-01BECE9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7D7DC"/>
                </a:solidFill>
              </a:defRPr>
            </a:pPr>
            <a:r>
              <a:rPr sz="1500" b="1" i="0">
                <a:solidFill>
                  <a:srgbClr val="D7D7DC"/>
                </a:solidFill>
              </a:rPr>
              <a:t>Feature inventory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3241B-4D6E-46CC-A635-9EDDBFAE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Public experience</a:t>
            </a:r>
          </a:p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Candidate tools</a:t>
            </a:r>
          </a:p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Recruiter operations</a:t>
            </a:r>
          </a:p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Admin and platform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D0D5E-548F-4090-B38C-E8FC943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3A3AD"/>
                </a:solidFill>
              </a:defRPr>
            </a:pPr>
            <a:r>
              <a:rPr sz="1050" b="0" i="0">
                <a:solidFill>
                  <a:srgbClr val="A3A3AD"/>
                </a:solidFill>
              </a:rPr>
              <a:t>Based on the current JobForge codebase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5D309-CAFD-435E-8A3E-9F19934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CA24-8D90-4E90-845F-D58CF58D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156DC-E45A-49F3-A683-3DF8379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0274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92308-2228-40BB-8D67-0DB7F44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01 / PRODUCT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7CB00-83BE-4A0D-BCE3-6F29174D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One platform, three operating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3D247-FB5F-47FC-BB64-982A23A7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JobForge connects opportunity discovery with the full hiring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38A96-D276-41BC-BE05-E3489F3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68CB7-41E5-4C03-BBEA-03D472B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C400"/>
                </a:solidFill>
              </a:defRPr>
            </a:pPr>
            <a:r>
              <a:rPr sz="1050" b="1" i="0">
                <a:solidFill>
                  <a:srgbClr val="F5C400"/>
                </a:solidFill>
              </a:rPr>
              <a:t>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3F800-680D-41D9-9887-B5EDB08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7F5"/>
                </a:solidFill>
              </a:defRPr>
            </a:pPr>
            <a:r>
              <a:rPr sz="2100" b="1" i="0">
                <a:solidFill>
                  <a:srgbClr val="F7F7F5"/>
                </a:solidFill>
              </a:rPr>
              <a:t>Discover, save, 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BF6B2-6545-42FB-AA87-63A7A4DA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A3AD"/>
                </a:solidFill>
              </a:defRPr>
            </a:pPr>
            <a:r>
              <a:rPr sz="1350" b="0" i="0">
                <a:solidFill>
                  <a:srgbClr val="A3A3AD"/>
                </a:solidFill>
              </a:rPr>
              <a:t>Build a profile, manage applications, follow interviews and control privacy.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A372D-915F-4472-8EBD-2150A11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C400"/>
                </a:solidFill>
              </a:defRPr>
            </a:pPr>
            <a:r>
              <a:rPr sz="1050" b="1" i="0">
                <a:solidFill>
                  <a:srgbClr val="F5C400"/>
                </a:solidFill>
              </a:rPr>
              <a:t>RECRUITER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CD767-DC22-494C-BC8A-0DCE5B4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7F5"/>
                </a:solidFill>
              </a:defRPr>
            </a:pPr>
            <a:r>
              <a:rPr sz="2100" b="1" i="0">
                <a:solidFill>
                  <a:srgbClr val="F7F7F5"/>
                </a:solidFill>
              </a:rPr>
              <a:t>Post, review, hire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C2CD8-32A5-4137-B44C-848E9F8F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A3AD"/>
                </a:solidFill>
              </a:defRPr>
            </a:pPr>
            <a:r>
              <a:rPr sz="1350" b="0" i="0">
                <a:solidFill>
                  <a:srgbClr val="A3A3AD"/>
                </a:solidFill>
              </a:rPr>
              <a:t>Manage companies and jobs, review applicants, schedule interviews and measure hiring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D4D9A-4984-4734-92B5-D294CCF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C400"/>
                </a:solidFill>
              </a:defRPr>
            </a:pPr>
            <a:r>
              <a:rPr sz="1050" b="1" i="0">
                <a:solidFill>
                  <a:srgbClr val="F5C400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245A9-9B12-47BF-A285-C010237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7F5"/>
                </a:solidFill>
              </a:defRPr>
            </a:pPr>
            <a:r>
              <a:rPr sz="2100" b="1" i="0">
                <a:solidFill>
                  <a:srgbClr val="F7F7F5"/>
                </a:solidFill>
              </a:rPr>
              <a:t>Operate the marketplace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BB949-A891-4B51-A012-A0DBF3B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A3AD"/>
                </a:solidFill>
              </a:defRPr>
            </a:pPr>
            <a:r>
              <a:rPr sz="1350" b="0" i="0">
                <a:solidFill>
                  <a:srgbClr val="A3A3AD"/>
                </a:solidFill>
              </a:rPr>
              <a:t>Monitor users, companies, jobs, applications, payments and moderation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19127-5476-4FE9-B97E-286316A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801D7-9FBC-4029-82CA-E75F3C6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3A3AD"/>
                </a:solidFill>
              </a:defRPr>
            </a:pPr>
            <a:r>
              <a:rPr sz="975" b="1" i="0">
                <a:solidFill>
                  <a:srgbClr val="A3A3AD"/>
                </a:solidFill>
              </a:rPr>
              <a:t>DISCOVER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D1EAB-C938-4B89-97A8-4FE08AC0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3A3AD"/>
                </a:solidFill>
              </a:defRPr>
            </a:pPr>
            <a:r>
              <a:rPr sz="975" b="1" i="0">
                <a:solidFill>
                  <a:srgbClr val="A3A3AD"/>
                </a:solidFill>
              </a:rPr>
              <a:t>APPLY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41F80-CFB9-4052-BE24-61EF911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3A3AD"/>
                </a:solidFill>
              </a:defRPr>
            </a:pPr>
            <a:r>
              <a:rPr sz="975" b="1" i="0">
                <a:solidFill>
                  <a:srgbClr val="A3A3AD"/>
                </a:solidFill>
              </a:rPr>
              <a:t>HIRE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02B46-4C3E-43DB-980F-175FBD78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C400"/>
                </a:solidFill>
              </a:defRPr>
            </a:pPr>
            <a:r>
              <a:rPr sz="2100" b="1" i="0">
                <a:solidFill>
                  <a:srgbClr val="F5C400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945F2-36A9-4E73-996A-42C7D7D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C400"/>
                </a:solidFill>
              </a:defRPr>
            </a:pPr>
            <a:r>
              <a:rPr sz="2100" b="1" i="0">
                <a:solidFill>
                  <a:srgbClr val="F5C400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D5007-CBB5-4899-B402-4FA2CDC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A single product loop, with role-specific access and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34D79-E96F-4A25-A3DC-DB0F4469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B7117-3680-44DE-88ED-421DBB2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50E38-FB80-4420-A4BF-BA770F6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0983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A5658-E3A7-43F8-8561-28CAB30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02 / PUBLIC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39F8D-B55F-4F20-B03E-A0065A94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The public site turns browsing into a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1890D-C3B1-427E-8DE6-D80986A9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The discovery layer is designed to help people find jobs, understand employers and choose an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6865E-C49B-486B-BC02-6A0254E9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E468-0AF0-435A-A5CF-F5F1081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HOMEPAGE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F2ABB-C327-4A3B-8DA3-860F61F1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Hero, latest jobs, About section, pricing and clear entry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58504-866B-4A82-9A00-95AA98F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4740F-98C8-42CB-B39E-CD3DF26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9BE72-E862-4516-AF11-87825C8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Keyword search, filters, sorting, featured jobs and pagination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5CB5B-4904-41A0-90DD-04D1C4C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FC3A9-9E46-43E6-8347-5635898B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JOB 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96658-9D66-4EA6-9697-21ED618B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Description, requirements, benefits, salary, workplace and apply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335D-A2BB-475E-80FF-FFCFC8F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36ABF-B7CD-4746-BB87-12DFB6A0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COMPANY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C6EE6-9D58-4CB0-8418-120305B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Public profiles, culture, benefits, social links and open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0FCF9-1821-442E-988F-81ACFF4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A171D-40C0-46C6-BFDA-3053298F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7F5"/>
                </a:solidFill>
              </a:defRPr>
            </a:pPr>
            <a:r>
              <a:rPr sz="2100" b="1" i="0">
                <a:solidFill>
                  <a:srgbClr val="F7F7F5"/>
                </a:solidFill>
              </a:rPr>
              <a:t>A job is more than a title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80D1E-9FBA-4023-9BF7-918D5816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14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A3AD"/>
                </a:solidFill>
              </a:defRPr>
            </a:pPr>
            <a:r>
              <a:rPr sz="1350" b="0" i="0">
                <a:solidFill>
                  <a:srgbClr val="A3A3AD"/>
                </a:solidFill>
              </a:rPr>
              <a:t>Each public job can expose the context a candidate needs before applying: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BE008-43A7-447C-ACCF-6FFE2D7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F776D-0648-4E36-86AA-67BFF75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Company and 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DD1D6-FD12-42D1-8372-75766CF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81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88CF2-738A-4D39-9312-6F4E4D5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148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Employment and workplace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24242-9893-4B8B-B5E4-6C70C71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81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69754-70C9-48DD-A246-0143564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Experience level and category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4A04C-3F69-465B-8255-9353F501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81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5D35F-1FF6-407C-AC29-CF19AF8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149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Salary range and application 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AE9CF-3D51-46B0-ACF0-889F08DC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81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D4C01-E542-4B0E-8B8A-0A60A61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149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Featured status and application count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0C7A78-ABA4-4FC4-AA2C-2E65E89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D8694-A0D9-4C98-B740-877D670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FE8CC-F529-469D-B018-D81E3EA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965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1DFCD-9B0C-4979-8350-F759B11F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03 / AUTHENTICATION AND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C1F1B-B144-43BF-B437-F572F12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The account layer sets the right experience from the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FA36B-A706-4D9B-AA9A-5878FDB5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Authentication, onboarding and role-aware navigation determine what each person can see and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2A95F-36C9-4DDA-9C27-8FBD895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D05A2-3091-40C3-B7AC-32FD4EDA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Create an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C1C35-E801-4244-B9F2-BA02E15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7652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Email/password signup, full name, password confirmation and Terms/Privacy consent.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A5830-0D4F-4B93-8523-24383746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01D8B-2E80-4CA6-A142-379EFD0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Verify and recover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148B0-2954-4D3E-A246-2A550C0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2427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Email verification, resend cooldown, forgot password and reset-password 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7A88E-9276-495E-9BC0-0AECBF8D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127B9-CB7C-46C9-9CA8-0B4572EB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Choose a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B5A8-169A-4F25-873C-F7B2757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202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Onboarding lets the account start as Job Seeker or Recruiter.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D9B8A-64A2-4328-8C1E-BB2E52E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4762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DE4B9-D6C5-47D2-8FAE-7EDFF12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7F7F5"/>
                </a:solidFill>
              </a:defRPr>
            </a:pPr>
            <a:r>
              <a:rPr sz="1950" b="1" i="0">
                <a:solidFill>
                  <a:srgbClr val="F7F7F5"/>
                </a:solidFill>
              </a:rPr>
              <a:t>Once signed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2338B-8E07-4469-94F3-18C1BFD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60954-020E-4A05-B8EA-084AAF60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Protected-route redirects preserve the intended destination.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59CC4-7158-4436-8B4B-F290E65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33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13762-5A1E-4C0E-93DD-C7004EE2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The account menu exposes Settings, Pricing, Theme and Logout.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3CD9B-EBD1-4F5A-A224-5E89BBA5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63DBF-B9F0-4F2A-9197-1F4C82E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Users can securely switch between Job Seeker and Recruiter modes.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1A68C-59A4-4579-90D1-1B7BA34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62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385EB-B84C-445E-8F1E-467A9931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Restricted accounts and incomplete onboarding receive dedicated 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2A108-A623-4D45-9011-8F2049C8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76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0B20D-6AA7-49BE-8679-A16B681A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Supabase sessions persist across refreshes and role-specific navigation updates.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C3DA1-04EB-4535-B163-C17921B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BE07E-B13E-4793-ADF6-E0CD06B2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8729C-C720-4B9A-A023-7350CF9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60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1AC58-6BA5-4930-B7B2-0F01938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04 / CANDIDATE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9163-3824-410D-B3BB-FCB147B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Candidates get a full job-search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184FF-C66B-4F05-9AE4-DA7213D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Discovery, profile building, applications, alerts and privacy controls live in one connected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77EF8-20ED-4C6C-8D5D-5930A5B8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8B6BE-06D9-4FB6-92F9-D102F2D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The candidate home shows saved jobs, active alerts, profile completion, recent applications and recommended 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68A06-B66A-4BC8-A8E6-8266695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BB055-CC98-4E63-BA9C-BC87080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9E2B7-1F86-46E6-80C9-13DABA28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Browse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419CC-5958-4171-8CEF-0E6D65F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71C88-503E-4302-BBF9-B7BFC713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Saved Jobs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20D17-5CD0-4040-BD26-EF31140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CFAB8-8F2B-468C-AAA7-43B4889A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Job Alerts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96EFB-D24B-4F3D-85FF-4EE563E2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F2870-CD12-4347-BAC0-07BC96FF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Recent applications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B3DA0-D896-484A-AA53-59E5EF20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D822C-4561-4CC7-BB94-1D0A89C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7DC"/>
                </a:solidFill>
              </a:defRPr>
            </a:pPr>
            <a:r>
              <a:rPr sz="1350" b="0" i="0">
                <a:solidFill>
                  <a:srgbClr val="D7D7DC"/>
                </a:solidFill>
              </a:rPr>
              <a:t>Upcoming interview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AC04B-E2D0-4474-81B8-A3FEA3C2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CANDIDATE TOOLKIT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4E411-B505-4174-856C-2EACE9B2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69125-288A-400D-BF48-8A86CDB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Profile: headline, bio, skills, experience, education, location and social links.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05DB5-E84E-4686-9776-EA8331E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B9C9F-978B-45E8-8220-0B048CDD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Files: profile photo and private resume storage.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C1B77-FED8-479F-BDD4-07E75719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88009-CC16-43D8-859A-EEBEAC80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Alerts: keywords, location, salary, employment, workplace and experience filters.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B6FDF-6822-42E1-927E-1FAD7ED5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C8ADD-37D5-4A9E-92EC-2E24E075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Applications: search, status/company/date filters, timeline, cover letter and withdrawal.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8F774-A5CB-4B89-8103-4C5D309B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65D6E8-2F1C-4432-8E91-59594F0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Privacy: profile, resume, portfolio, social links, location and experience visibility.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F95C7-7C94-4617-9E40-ACCD378D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37E2D-E0D6-4C71-B622-DA6289F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543F9-5FCF-490E-932D-C3DD76B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6646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314687-F67A-4086-915E-993B060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05 / CANDIDATE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25F53-D82E-4046-9D94-D6CD9A4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The application workflow carries the candidate past the Apply button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BCE4C-AE1C-493A-8727-2F589D7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JobForge keeps the application, status history and interview context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6E7BA-0F48-4EAC-A5CA-F08F2AE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C400"/>
                </a:solidFill>
              </a:defRPr>
            </a:pPr>
            <a:r>
              <a:rPr sz="2550" b="1" i="0">
                <a:solidFill>
                  <a:srgbClr val="F5C4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A4B0C-5ADB-4E0E-8A48-20CC2EF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3D540-4616-4C9C-80FD-7DC5FAA6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D0AF9-239D-4925-BB41-C991914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73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Search public jobs by title, company, location, category and filters.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AAD93-A70B-426A-9E6F-2D9E74D6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C400"/>
                </a:solidFill>
              </a:defRPr>
            </a:pPr>
            <a:r>
              <a:rPr sz="2550" b="1" i="0">
                <a:solidFill>
                  <a:srgbClr val="F5C40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2E42E-55CA-4C6E-BCA9-D53A85D1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28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695C-7CA6-4DE8-AB7E-1A487D3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B3231-152F-475F-9970-386B974E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71900"/>
            <a:ext cx="173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Bookmark roles and create alerts for future matches.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52586-7ADD-41C3-9AF4-0D576B7C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C400"/>
                </a:solidFill>
              </a:defRPr>
            </a:pPr>
            <a:r>
              <a:rPr sz="2550" b="1" i="0">
                <a:solidFill>
                  <a:srgbClr val="F5C4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AF0A7-19C2-4C02-9EDB-AE11F9F1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D62B4-A374-4B35-8510-44BB1F0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Apply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B66FF-713F-4494-B13D-7E8D817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71900"/>
            <a:ext cx="173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Submit a PDF resume, cover letter and custom answers.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652C8-B53C-4E0A-AEB1-75D58E1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C400"/>
                </a:solidFill>
              </a:defRPr>
            </a:pPr>
            <a:r>
              <a:rPr sz="2550" b="1" i="0">
                <a:solidFill>
                  <a:srgbClr val="F5C40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E01DD-E036-4950-B173-CB5634DD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8F3C9-0DA7-4C34-8FEA-B705DC5F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Follow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DB43D-EB95-45A6-87F2-2448CFD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173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Track status, history, recruiter updates and interviews.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C46F3-2D66-4AAE-91A5-D783581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C400"/>
                </a:solidFill>
              </a:defRPr>
            </a:pPr>
            <a:r>
              <a:rPr sz="2550" b="1" i="0">
                <a:solidFill>
                  <a:srgbClr val="F5C400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B2829-841B-42A0-90B5-85E0BF08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F885F-F7B0-445C-893D-231E6E58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7F7F5"/>
                </a:solidFill>
              </a:defRPr>
            </a:pPr>
            <a:r>
              <a:rPr sz="1725" b="1" i="0">
                <a:solidFill>
                  <a:srgbClr val="F7F7F5"/>
                </a:solidFill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592AE-CF27-4395-B7D9-3A6A6B09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71900"/>
            <a:ext cx="173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See meeting details, instructions and current interview state.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C27D5-ACC1-4D65-9426-97F05B3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DF882-37D5-473E-AC0D-DD796D1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7D7DC"/>
                </a:solidFill>
              </a:defRPr>
            </a:pPr>
            <a:r>
              <a:rPr sz="1350" b="1" i="0">
                <a:solidFill>
                  <a:srgbClr val="D7D7DC"/>
                </a:solidFill>
              </a:rPr>
              <a:t>Guardrails include duplicate-application prevention, closed-job checks, own-job checks, resume validation and withdrawal confirmation.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351B7-1965-4BF7-8234-88E3BE9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452A7-B329-467E-9FF5-9657F33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2D54EA-3924-4610-B5A1-1AD8993A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4985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C5068-BD1F-4B4B-9F31-8339F9A5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06 / RECRUITER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E8B4F-1EEF-4438-8D22-EF3AC41C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Recruiters move from a blank page to a managed hiring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3DF7E-492C-4FAA-8B44-B49B285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Company setup, job publishing and applicant operations are designed as one continuous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A02C-9C20-4A90-BD26-F6C54619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38E05-8A11-41D6-98C5-70941556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Build the company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E9D3-ECEE-4913-80A5-3872589F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5747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Create the public company profile, add brand assets, culture, benefits and social links.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5428B-1278-4ECE-968D-A8FEB40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2044B-C6E8-4FF4-8332-140053B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Create the 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6A423-62DF-4DEA-A3D2-F219A4B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2427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Draft, preview, autosave, schedule or publish with salary, location and application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FEAEA-D1C4-4598-B974-23A8B13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57809-7E53-46FC-ABD9-398D8A6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Manage the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0FD7D-A29B-4239-9639-1E71D66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9107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Search applicants, update status, add private notes, tag candidates and invite interviews.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15421-299D-4452-9F04-55801C02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A7771-8177-40BA-8B5B-079C0868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7F7F5"/>
                </a:solidFill>
              </a:defRPr>
            </a:pPr>
            <a:r>
              <a:rPr sz="1950" b="1" i="0">
                <a:solidFill>
                  <a:srgbClr val="F7F7F5"/>
                </a:solidFill>
              </a:rPr>
              <a:t>Job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2F767-6640-487F-BD42-24CE94B6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C400"/>
                </a:solidFill>
              </a:defRPr>
            </a:pPr>
            <a:r>
              <a:rPr sz="1350" b="1" i="0">
                <a:solidFill>
                  <a:srgbClr val="F5C400"/>
                </a:solidFill>
              </a:rPr>
              <a:t>Draft  -&gt;  Pending  -&gt;  Published  -&gt;  Closed  -&gt;  Archived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0020C-F4F3-4728-AC82-123DA59E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A91C6-8358-4331-B93B-6048E38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Scheduled future publishing with timezone conversion.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11F14-57CF-40D1-A874-9791A79A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A27A6-8D63-4928-9C86-C20E1B10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338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Application email or URL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F3ABD-1A24-43CA-801B-3AAE82C9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D1A02-813C-4CDF-A0F8-D311C92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Status, salary, workplace and experience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A1EFE-A57F-4648-AED3-F5C05A7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DE4D1-DEE7-4796-98E8-817787E8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Searchable recruiter-owned job management with pagination.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67C9A-3498-41C8-8442-0407DF9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D145F-F34C-428C-869B-C0197172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29847-EE84-4B51-9AFA-A712E5A3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3006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8FFDC-E66B-41CA-8D2E-301AB6E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07 / APPLICANT AND INTERVIEW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8DBB5-56F6-4E44-A393-B01F22B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Shortlisting has a clear next action: invite the right person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5713D-3E6A-4C6F-B239-48E4896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The recruiter workflow is built around review, controlled status changes, private notes and scheduled interviews.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27976-79B5-4BBF-91B6-BAE6076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APPLICANT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5AA6A-6E88-46B4-A78C-DA55A6A0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CCF31-1BD6-4D3B-B8BE-C3A0A50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Summary: total applicants, new, shortlisted and interviews scheduled.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BC2E6-CE19-4FD5-848E-32685C5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E7B0F-2750-49C2-8031-089C9D09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Search by name, email, skills or 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B3BD5-F8E5-4A01-A133-264182C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CAE22-9676-49C9-9E4A-A08F789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Filter by job, status, dates, resume availability and tags.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12D10-A100-4CA7-839A-E2CBD6A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890FE-58D6-4E12-BEAA-D2E1231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Review profile, resume, cover letter, custom answers and application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5A081-C64A-46A4-B534-58DFDA2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1278A-1E7F-4EE8-8DC5-CBF3D893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Private recruiter notes and tags remain outside the candidate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069E2-EBF9-481C-B386-6F19E2C4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INTERVIEW INVITATIONS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B9CF0-4176-455A-BCF8-60396D3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07EDE-4435-40E5-BF63-65741584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Video, phone or on-site interview type.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8BB9D-2E7E-4DD3-B371-756F0C2A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F91B2-5A72-426D-AE91-E64ACD4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Future date/time, timezone and duration.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79BAD-51CB-4CB1-93E0-0CC4899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6A47E-B224-4B84-AE6B-04D45E4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Meeting link, phone number or physical location.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C769A-965E-46E1-9736-13C0E91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0D952-4F8E-4FDA-A7FC-4FB83BB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Candidate instructions and recruiter notes.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9F271-CC48-4F00-A8F7-0A67613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0F831-BA5C-4A00-B3B4-0EA8CD4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Duplicate prevention, status update, notification and email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C7B05-170A-4118-9647-88C3733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2A8B0-0D52-4823-A59E-64B26BD0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3A3AD"/>
                </a:solidFill>
              </a:defRPr>
            </a:pPr>
            <a:r>
              <a:rPr sz="1050" b="1" i="0">
                <a:solidFill>
                  <a:srgbClr val="A3A3AD"/>
                </a:solidFill>
              </a:rPr>
              <a:t>Application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F52DA-5FCD-4EB9-9944-E45615BF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7F7F5"/>
                </a:solidFill>
              </a:defRPr>
            </a:pPr>
            <a:r>
              <a:rPr sz="1425" b="1" i="0">
                <a:solidFill>
                  <a:srgbClr val="F7F7F5"/>
                </a:solidFill>
              </a:rPr>
              <a:t>Applied  -&gt;  Reviewing  -&gt;  Shortlisted  -&gt;  Interview  -&gt;  Offered / Hired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5A8AF5-D12E-4C5C-A515-6BE83EF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354D1-5E89-4203-8724-742364E6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768C5-FAAF-421F-A6DD-79D275E7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2786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6B144-C03A-4BA5-8005-309A463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08 / PLANS, BILLING AND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05F99-C3DC-44AF-AA17-3C1E49FF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Monetization unlocks the recruiter operating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3C9C-2859-4240-8275-067E574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Razorpay-backed one-time plans control posting capacity, featured visibility and analytics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3D1B3-70A2-4F82-8813-4B3493E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PLANS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8A3AB-5BA4-4170-BC2C-7DBCDB6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STARTER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BAF76-19B5-4130-97B1-49A3A63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$49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9C0E3-30C4-4864-AD47-E3014A0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1 active job post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Core applications and applicant management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Dashboard, billing and email notifications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16F0A-A92A-4A98-B657-DBB7AE27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EF19D-A1A1-46B5-B6BB-DC4C283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$99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1D0A5-FDE7-4F1F-8B2B-D73699C6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5 active job posts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Featured posts and priority listings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Usage analytics and hiring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B48E3-2430-4F21-A00A-8FA9477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7F5"/>
                </a:solidFill>
              </a:defRPr>
            </a:pPr>
            <a:r>
              <a:rPr sz="1650" b="1" i="0">
                <a:solidFill>
                  <a:srgbClr val="F7F7F5"/>
                </a:solidFill>
              </a:rPr>
              <a:t>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AA826-374C-4DA0-86EC-146A35F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C400"/>
                </a:solidFill>
              </a:defRPr>
            </a:pPr>
            <a:r>
              <a:rPr sz="3150" b="1" i="0">
                <a:solidFill>
                  <a:srgbClr val="F5C400"/>
                </a:solidFill>
              </a:rPr>
              <a:t>$299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63C2D-AD67-422F-BE60-08CAB45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Unlimited active and featured posts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Premium priority support</a:t>
            </a:r>
          </a:p>
          <a:p xmlns:a="http://schemas.openxmlformats.org/drawingml/2006/main">
            <a:pPr algn="l">
              <a:defRPr sz="1275" b="0" i="0">
                <a:solidFill>
                  <a:srgbClr val="A3A3AD"/>
                </a:solidFill>
              </a:defRPr>
            </a:pPr>
            <a:r>
              <a:rPr sz="1275" b="0" i="0">
                <a:solidFill>
                  <a:srgbClr val="A3A3AD"/>
                </a:solidFill>
              </a:rPr>
              <a:t>Maximum flexibility for hiring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EAB9D-D378-4D4C-8619-FD60A73F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91A4D-AE05-4598-9A48-AEF49BA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7D7DC"/>
                </a:solidFill>
              </a:defRPr>
            </a:pPr>
            <a:r>
              <a:rPr sz="1350" b="1" i="0">
                <a:solidFill>
                  <a:srgbClr val="D7D7DC"/>
                </a:solidFill>
              </a:rPr>
              <a:t>Billing includes current-plan state, usage, purchase history, payment references, retry support and verified entitlement activation.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994A0-B68E-4CDB-AFF2-9D5D7AE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2159B-0EED-46A2-A1F2-5AF0F47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63957-52AB-4E21-9AB6-4B8446A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3438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4BC8A5-EF61-46E7-B273-3059B29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09 / EVERYDAY PRODUCT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40287-7EF9-41A3-847C-B8C69730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The product stays useful between major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88C02-E116-4AD9-AA90-880D471E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Notifications, preferences, storage and search keep the workspace connected day to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87B35-2CAF-4D1C-B2A1-AD349A0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EF580-5D0D-4781-8E72-1D4D6E7D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NOTIFICATIONS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C2C4F-BDA6-4BF3-A259-09B933A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All/read/unread views, search, pagination, mark-read, delete, clear-all and automatic unread toasts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C0AC0-FE93-43B3-A5C9-74A8EBA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241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94BF-4EA1-42BB-BE4B-6853487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4CB97-1FCF-48DE-AEBC-488F8CC3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71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Profile, account, security, notifications, privacy, job alerts, appearance, billing, preferences and danger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061CD-A03D-4273-B14A-582F494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7227D-3F9E-4AE7-8861-4DDB4DA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58963-1681-489C-8B69-57E999F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7F5"/>
                </a:solidFill>
              </a:defRPr>
            </a:pPr>
            <a:r>
              <a:rPr sz="1500" b="1" i="0">
                <a:solidFill>
                  <a:srgbClr val="F7F7F5"/>
                </a:solidFill>
              </a:rPr>
              <a:t>Private resumes, profile photos, recruiter avatars, company logos, banners and galleries with signed URLs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58011-E29E-4A39-A2BD-8744F66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1D4D7-7480-4B25-860D-C6DBBCA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Account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3FE22-1AC6-4E65-8260-151B02F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8BA85-5734-4688-90DD-CA592DCA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Theme: Light, Dark or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009B4-AFBC-43D7-8028-514A7AC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9853C-FCAC-4861-B06C-BBAE5B9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Email and in-app preferences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097EB-B9D8-4CE3-947B-2C66315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AD2E8-CB3F-4F22-B9F5-382F441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Candidate privacy visibility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1D435-7FDA-4FB5-9FCA-8A3CA4F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78AFC-7FF1-45FB-AA51-553CB4C3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Recruiter and candidate profile 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D41F6-E1CE-4391-9A6E-1435914F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0B65D-6700-449F-A23A-AC28B0E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Password and account access information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8E8DC-26C3-4548-B611-C9CDDC8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Search and 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D09A4-77DB-428A-AA07-8DBBEFA6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963D6-CDDB-43CF-B77F-00D49DA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Ctrl+K / Cmd+K command palette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53F9C-E535-4A31-80A7-910EEF73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ED0BC-CFBC-41BB-9B44-4681361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Debounced job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1268F-F0CF-462A-AEA6-2F690D4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9BA86-9DFB-4FFF-814F-7974DFD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49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Recent searches stored per account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64A89-FB73-4AED-B703-D4A0CB5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43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094A8-DEDB-4EC6-A793-185273F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768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Quick links to core workspace destinations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82833-A138-46C7-B78D-5BBD1E84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05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BB83C0-F60C-4EA9-A803-782C138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388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Responsive desktop and mobile navigation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1DA8BA-8432-4322-9A5D-A1F6375B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85787E-462F-46A3-AEE9-AFF4EDE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74A647-35DC-43E7-9AFA-8DE53846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065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FF48D-B415-4B57-A807-6A22868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10 /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2B0BC-30B8-4D83-AC3D-CF09A0D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Admins see the platform as an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83283-AEA1-48A5-996F-84C1D9B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The admin console combines health signals, records, payments and moderation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7DDA-D26C-416E-8C7A-82763BA6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PLATFORM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5E27E-FBA3-41FD-AA35-ABB46BE9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D58FF-F49E-4ACE-A643-81A4749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508D6-ADC3-498F-A7D3-B16EFDA3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Users, candidates and recruiters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25FF2-56D5-4F80-A0A9-40F18CF5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32D60-5795-4D48-9CA9-1403306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Companies, jobs and applications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C2156-3EEC-439E-9CA9-73C7ADAD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7B8A2-7EF4-4780-A02F-8FD835D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Active paid users and successful payments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FA386-D170-4CB0-8251-D8C2334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35818-3D71-4EFE-B0DE-43472174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Revenue, growth and plan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8AE7D-39AB-4B5C-B290-7B34F07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A29E5-883F-4688-8209-772DAC93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Top companies and recruiters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47C2F-9CF9-4190-AA6B-83678F8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47CAB-AF44-49CD-8F50-D5265B7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Recent platform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06388-1DB9-4334-85EB-30DB551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CONTROL SURFACES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C31E9-737A-495B-BBC1-1EB0B67B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Operational sections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D00B5-EB33-414D-9BE8-3D8E39F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Users</a:t>
            </a:r>
          </a:p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Companies</a:t>
            </a:r>
          </a:p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Jobs</a:t>
            </a:r>
          </a:p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Applications</a:t>
            </a:r>
          </a:p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Payments</a:t>
            </a:r>
          </a:p>
          <a:p xmlns:a="http://schemas.openxmlformats.org/drawingml/2006/main">
            <a:pPr algn="l">
              <a:defRPr sz="1650" b="1" i="0">
                <a:solidFill>
                  <a:srgbClr val="D7D7DC"/>
                </a:solidFill>
              </a:defRPr>
            </a:pPr>
            <a:r>
              <a:rPr sz="1650" b="1" i="0">
                <a:solidFill>
                  <a:srgbClr val="D7D7DC"/>
                </a:solidFill>
              </a:rPr>
              <a:t>Moderation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2474B-8218-43FB-BF06-3A1F68AF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9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Moderation supports review, warn, hide, suspend, restrict and mark-as-spam actions with reason capture, confirmation and audit history.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5DE3A-BD18-4026-99A0-57A96A36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64F54-F577-4FF0-95AD-447AA91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362CF-C419-4591-9786-D8AB13E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06654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F9C8F-9AA3-475B-86A6-01E4861B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11 / PLATFORM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CA5C5-D999-43CE-A10E-9464D3C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The visible product is backed by a protected service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AB369-DF91-4827-9F1F-A55A0F1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Supabase, PostgreSQL, Razorpay, storage policies and route-level authorization support the user-facing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F203A-923B-4386-9D44-8D35C4D7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DATA AND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2613C-8250-40CA-8F08-D70BE799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5724D-4463-4134-B67A-AE140512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Supabase Auth and persistent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E50C9-1B85-43FD-BB68-31A366A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C4889-2604-40A3-8EC7-8713EF9D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PostgreSQL tables, constraints, indexes and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793CE-AE89-4FB5-ACAE-FEAF6A6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B1EFE-7F86-4930-9728-1DB942B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RLS policies for candidate, recruiter and admin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ACD70-C8CA-47FE-AE63-9C9E116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4F7B5-68B1-469A-8278-61A0EF69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Ownership checks for jobs, applications, companies, interviews and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15477-B3C7-42EA-8BA1-4D4B598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22E66-BBAC-4B1E-8C70-ED7819D3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Private storage policies and signed asset URLs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4A66D-0240-48CA-A6E7-F28CE302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BACKEND ENTRY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39E47-1271-47B9-A65F-58BD485F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7C160-4BF1-415E-B3EC-A5B0C99E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Recruiter jobs API and admin section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A7FDE-A9AC-4DE9-A63F-B2A057E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A6BA4-4977-469D-8858-305B390F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Razorpay order, verification, ledger and webhook routes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BF393-C6DD-4CEA-8B26-047DBFD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78E6E-A161-4B8B-964D-E378C237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Billing and payment history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BCD9D-CF17-41A7-90DE-CB179208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0A929-DB5A-48B7-BDCD-A6E2585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Email queue processing and provider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35BF0-E3E0-4794-87EF-4C59536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61EDB-2792-4E5B-BACD-1E7D410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910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Scheduled job publishing and public cache revalidation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430B4-F9AF-478B-9084-08944B1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33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A8BFA-2BCC-433D-B96D-52CD8F7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Job view tracking and audit/security 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35C35-13ED-4DF5-9E03-3D70F5B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49943-B0A9-4EB5-A33B-961C2F02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7D7DC"/>
                </a:solidFill>
              </a:defRPr>
            </a:pPr>
            <a:r>
              <a:rPr sz="1350" b="1" i="0">
                <a:solidFill>
                  <a:srgbClr val="D7D7DC"/>
                </a:solidFill>
              </a:rPr>
              <a:t>The codebase also includes rate-limit foundations, input validation, error sanitization, webhook idempotency and subscription feature gates.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E2039-7B2F-435E-AE07-50B6BF8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28CCE-8B72-47F8-8590-E8A8ED92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D93B09-94E1-44DE-AEEA-AECBA50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46028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38BE5-7B5A-456B-8489-9260547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12 / ROUTE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1BB0-6544-4350-9002-42E251C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Every major surface has a clear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B626-EA32-4DD8-A002-6D9BB53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The application is organized around public discovery, role-specific workspaces and supporting platform routes.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2686F-A32A-4A7A-BF97-F5408F3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PUBLIC AND AUTH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68DA0-DDBA-4F6E-A0E1-62D8930C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/jobs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/jobs/[slug]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/company/[slug]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/pricing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/login / signup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/forgot-password / reset-password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/verify-email / auth/callback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79182-C8B6-42D6-BAA2-93535B4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E51B2-6793-47AC-812B-220D9B6E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/dashboard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/applications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/saved-jobs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/job-alerts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/interviews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/post-job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/notifications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/settings/[section]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/dashboard/billing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DD00A-A475-48B2-AA85-DFA1DF0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ADMIN AND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1B02A-B004-4A23-BF1C-EBA66F3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/admin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/admin/[section]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/onboarding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/account-restricted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/success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/robots.txt / sitemap.xml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/manifest.webmanifest</a:t>
            </a:r>
          </a:p>
          <a:p xmlns:a="http://schemas.openxmlformats.org/drawingml/2006/main">
            <a:pPr algn="l">
              <a:defRPr sz="1275" b="0" i="0">
                <a:solidFill>
                  <a:srgbClr val="D7D7DC"/>
                </a:solidFill>
              </a:defRPr>
            </a:pPr>
            <a:r>
              <a:rPr sz="1275" b="0" i="0">
                <a:solidFill>
                  <a:srgbClr val="D7D7DC"/>
                </a:solidFill>
              </a:rPr>
              <a:t>/api/* payment, email, jobs,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17AB2-8FC5-4ABC-A172-D2EC75D1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1689B-0BD8-41BA-B73A-2B45BBC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C400"/>
                </a:solidFill>
              </a:defRPr>
            </a:pPr>
            <a:r>
              <a:rPr sz="1125" b="1" i="0">
                <a:solidFill>
                  <a:srgbClr val="F5C400"/>
                </a:solidFill>
              </a:rPr>
              <a:t>Current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C6290-97FD-40FD-AA27-08220E7A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A3AD"/>
                </a:solidFill>
              </a:defRPr>
            </a:pPr>
            <a:r>
              <a:rPr sz="1200" b="0" i="0">
                <a:solidFill>
                  <a:srgbClr val="A3A3AD"/>
                </a:solidFill>
              </a:rPr>
              <a:t>About is a homepage section; global search has live job results while other categories are scaffolded; 2FA, data export and standalone legal pages are not confirmed as active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8DD50-D820-46C0-8CA9-7B37E03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BB35-9C98-47D1-B1A8-6F25F5A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A250C-30FD-45C8-861C-ABE0E2B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4582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8E3BB-4D0D-4C01-B646-7EF7DA1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13 /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D9781-F926-4499-A0D3-E5B55720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7F5"/>
                </a:solidFill>
              </a:defRPr>
            </a:pPr>
            <a:r>
              <a:rPr sz="2850" b="1" i="0">
                <a:solidFill>
                  <a:srgbClr val="F7F7F5"/>
                </a:solidFill>
              </a:rPr>
              <a:t>JobForge is a connected hiring platform, not just a job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57E3A-01D1-4008-9C94-9D4C42E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3A3AD"/>
                </a:solidFill>
              </a:defRPr>
            </a:pPr>
            <a:r>
              <a:rPr sz="1425" b="0" i="0">
                <a:solidFill>
                  <a:srgbClr val="A3A3AD"/>
                </a:solidFill>
              </a:rPr>
              <a:t>The product spans discovery, applications, recruitment operations, monetization and platform governance.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05023-C45A-4E47-98B1-B3200EF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22205-7B70-4BB7-9A93-2E8EA96C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FOR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5F32-82BE-4722-987E-7AB3D05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Find better-fit work, present a complete profile, apply with context and follow the hiring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8B579-26A9-4941-938D-C6FCF6F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FOR RECRUITERS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E2CF8-7154-49CA-BFFE-97CC1BF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Build a company presence, publish jobs, manage real applicants and turn shortlists into interviews.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B9F26-1C37-497E-AC0B-BE1C209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400"/>
                </a:solidFill>
              </a:defRPr>
            </a:pPr>
            <a:r>
              <a:rPr sz="975" b="1" i="0">
                <a:solidFill>
                  <a:srgbClr val="F5C400"/>
                </a:solidFill>
              </a:rPr>
              <a:t>FOR 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258D-DAEF-41F4-917C-C42DED97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7F5"/>
                </a:solidFill>
              </a:defRPr>
            </a:pPr>
            <a:r>
              <a:rPr sz="1800" b="1" i="0">
                <a:solidFill>
                  <a:srgbClr val="F7F7F5"/>
                </a:solidFill>
              </a:rPr>
              <a:t>Run the marketplace with analytics, payments, moderation, security controls and auditable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A94E-5180-45FF-823D-514AC1B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39CEB-5B33-48BC-967B-FEC981C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C400"/>
                </a:solidFill>
              </a:defRPr>
            </a:pPr>
            <a:r>
              <a:rPr sz="2250" b="1" i="0">
                <a:solidFill>
                  <a:srgbClr val="F5C400"/>
                </a:solidFill>
              </a:rPr>
              <a:t>The core product loop is complete: discover -&gt; apply -&gt; review -&gt; interview -&gt; hire.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FE588-7FFA-4A21-8237-F0E1382A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3A3AD"/>
                </a:solidFill>
              </a:defRPr>
            </a:pPr>
            <a:r>
              <a:rPr sz="1050" b="0" i="0">
                <a:solidFill>
                  <a:srgbClr val="A3A3AD"/>
                </a:solidFill>
              </a:rPr>
              <a:t>Source: current JobForge application codebase and migration inventory.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3D5CB-3DE9-4A33-99E0-43B3EED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A1C39-8415-47DB-BA68-021CF53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3A3AD"/>
                </a:solidFill>
              </a:defRPr>
            </a:pPr>
            <a:r>
              <a:rPr sz="900" b="1" i="0">
                <a:solidFill>
                  <a:srgbClr val="A3A3AD"/>
                </a:solidFill>
              </a:rPr>
              <a:t>JOBFORGE / PRODUCT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A23F3-26D4-4812-AF10-128A66B6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5C400"/>
                </a:solidFill>
              </a:defRPr>
            </a:pPr>
            <a:r>
              <a:rPr sz="900" b="1" i="0">
                <a:solidFill>
                  <a:srgbClr val="F5C4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88856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2026-07-29T17:23:33.3220000Z</dcterms:created>
  <dcterms:modified xsi:type="dcterms:W3CDTF">2026-07-29T17:23:33.3220000Z</dcterms:modified>
</coreProperties>
</file>